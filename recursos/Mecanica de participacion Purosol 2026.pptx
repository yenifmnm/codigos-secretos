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sldIdLst>
    <p:sldId id="328" r:id="rId5"/>
    <p:sldId id="346" r:id="rId6"/>
    <p:sldId id="348" r:id="rId7"/>
    <p:sldId id="350" r:id="rId8"/>
    <p:sldId id="349" r:id="rId9"/>
    <p:sldId id="34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168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144" userDrawn="1">
          <p15:clr>
            <a:srgbClr val="A4A3A4"/>
          </p15:clr>
        </p15:guide>
        <p15:guide id="6" orient="horz" pos="4152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  <p15:guide id="8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438"/>
    <a:srgbClr val="FFC557"/>
    <a:srgbClr val="F9F7FE"/>
    <a:srgbClr val="3F96B4"/>
    <a:srgbClr val="1B1C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6357" autoAdjust="0"/>
  </p:normalViewPr>
  <p:slideViewPr>
    <p:cSldViewPr snapToGrid="0">
      <p:cViewPr>
        <p:scale>
          <a:sx n="70" d="100"/>
          <a:sy n="70" d="100"/>
        </p:scale>
        <p:origin x="702" y="12"/>
      </p:cViewPr>
      <p:guideLst>
        <p:guide pos="168"/>
        <p:guide pos="7512"/>
        <p:guide orient="horz" pos="144"/>
        <p:guide orient="horz" pos="4152"/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8367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81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77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966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8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0987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0901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863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371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7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7491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7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182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920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5846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4931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781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07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9171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10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8122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6463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151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151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5680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324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6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E8339A84-11AF-489D-A0FF-84DAD360270B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668BA604-9A60-418D-9BA5-8D9D8C4168F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44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80" r:id="rId24"/>
    <p:sldLayoutId id="2147483781" r:id="rId25"/>
    <p:sldLayoutId id="2147483782" r:id="rId26"/>
    <p:sldLayoutId id="2147483783" r:id="rId27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etissapy.sharepoint.com/:t:/s/Promociones/IQBodBCYwkwbR7uFYEk4upEFAdg8voJya98n8nuO6ZFyvH4?e=VA7tvt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metissapy.sharepoint.com/:t:/s/Promociones/IQDfrtXqiKRUSKCpUwgC9_5YAa1dqEjleofZq5fiwJpAWMM?e=nAKZa8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67290A-29E9-6C6A-D992-49A7E34F537D}"/>
              </a:ext>
            </a:extLst>
          </p:cNvPr>
          <p:cNvSpPr/>
          <p:nvPr/>
        </p:nvSpPr>
        <p:spPr>
          <a:xfrm>
            <a:off x="-1" y="0"/>
            <a:ext cx="390525" cy="68580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32C12-0AF5-4614-10BF-3C22FBECF0A0}"/>
              </a:ext>
            </a:extLst>
          </p:cNvPr>
          <p:cNvSpPr txBox="1"/>
          <p:nvPr/>
        </p:nvSpPr>
        <p:spPr>
          <a:xfrm>
            <a:off x="9286875" y="6420751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s-MX" sz="1050" dirty="0">
                <a:latin typeface="Futura Bk BT" panose="020B0502020204020303" pitchFamily="34" charset="0"/>
                <a:ea typeface="Lato"/>
                <a:cs typeface="Lato"/>
              </a:rPr>
              <a:t>© Metis | 2025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B2140DB-E662-48C7-A48E-F508C13F2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0" y="1077755"/>
            <a:ext cx="5810250" cy="3272713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6805234-C3F9-F142-8DDE-4B1F4C90A626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338638" y="2487418"/>
            <a:ext cx="2924174" cy="381597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64B1984-33D1-E10C-3358-7E98F7F0519A}"/>
              </a:ext>
            </a:extLst>
          </p:cNvPr>
          <p:cNvSpPr txBox="1"/>
          <p:nvPr/>
        </p:nvSpPr>
        <p:spPr>
          <a:xfrm>
            <a:off x="7262812" y="2302752"/>
            <a:ext cx="3824288" cy="369332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dirty="0"/>
              <a:t>Aquí el cliente debe cargar su CI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B2ED0CB-C6B0-1D5C-65DE-8DADAC93D800}"/>
              </a:ext>
            </a:extLst>
          </p:cNvPr>
          <p:cNvCxnSpPr>
            <a:cxnSpLocks/>
          </p:cNvCxnSpPr>
          <p:nvPr/>
        </p:nvCxnSpPr>
        <p:spPr>
          <a:xfrm>
            <a:off x="4338638" y="3255786"/>
            <a:ext cx="2924174" cy="250819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4D83481-74A9-FF37-0EE0-6C84D73989BF}"/>
              </a:ext>
            </a:extLst>
          </p:cNvPr>
          <p:cNvSpPr txBox="1"/>
          <p:nvPr/>
        </p:nvSpPr>
        <p:spPr>
          <a:xfrm>
            <a:off x="7262812" y="3048649"/>
            <a:ext cx="3824288" cy="1077218"/>
          </a:xfrm>
          <a:prstGeom prst="rect">
            <a:avLst/>
          </a:prstGeom>
          <a:solidFill>
            <a:srgbClr val="FFC557"/>
          </a:solidFill>
        </p:spPr>
        <p:txBody>
          <a:bodyPr wrap="square" rtlCol="0">
            <a:spAutoFit/>
          </a:bodyPr>
          <a:lstStyle/>
          <a:p>
            <a:r>
              <a:rPr lang="es-PY" sz="1600" dirty="0"/>
              <a:t>Aquí e</a:t>
            </a:r>
            <a:r>
              <a:rPr lang="es-PY" sz="1600" i="1" dirty="0"/>
              <a:t>l</a:t>
            </a:r>
            <a:r>
              <a:rPr lang="es-PY" sz="1600" dirty="0"/>
              <a:t> cliente debe cargar el código secreto.</a:t>
            </a:r>
            <a:br>
              <a:rPr lang="es-PY" sz="1600" dirty="0"/>
            </a:br>
            <a:r>
              <a:rPr lang="es-PY" sz="1600" dirty="0"/>
              <a:t>Adjuntamos base de códigos donde el sistema debe hacer la consulta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CFC118F-2BF1-D2E1-0270-D0034E557E45}"/>
              </a:ext>
            </a:extLst>
          </p:cNvPr>
          <p:cNvSpPr txBox="1"/>
          <p:nvPr/>
        </p:nvSpPr>
        <p:spPr>
          <a:xfrm>
            <a:off x="7692628" y="4969277"/>
            <a:ext cx="3188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Y" dirty="0">
                <a:hlinkClick r:id="rId3"/>
              </a:rPr>
              <a:t>OT243586 PARTE 1_base.txt</a:t>
            </a:r>
            <a:r>
              <a:rPr lang="es-PY" dirty="0"/>
              <a:t>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F723BCB-B106-91D7-0C0B-D38DC95099B7}"/>
              </a:ext>
            </a:extLst>
          </p:cNvPr>
          <p:cNvSpPr txBox="1"/>
          <p:nvPr/>
        </p:nvSpPr>
        <p:spPr>
          <a:xfrm>
            <a:off x="7692628" y="5259355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Y" dirty="0">
                <a:hlinkClick r:id="rId4"/>
              </a:rPr>
              <a:t>OT243586 PARTE 2_base.txt</a:t>
            </a:r>
            <a:r>
              <a:rPr lang="es-PY" dirty="0"/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E67D68C-F002-4F28-E62E-3C1E65780752}"/>
              </a:ext>
            </a:extLst>
          </p:cNvPr>
          <p:cNvSpPr txBox="1"/>
          <p:nvPr/>
        </p:nvSpPr>
        <p:spPr>
          <a:xfrm>
            <a:off x="7704535" y="4597708"/>
            <a:ext cx="3188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dirty="0"/>
              <a:t>Bases de códigos secretos: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AD67C82A-3413-E7AE-91A1-CB9703055CF2}"/>
              </a:ext>
            </a:extLst>
          </p:cNvPr>
          <p:cNvCxnSpPr>
            <a:cxnSpLocks/>
          </p:cNvCxnSpPr>
          <p:nvPr/>
        </p:nvCxnSpPr>
        <p:spPr>
          <a:xfrm>
            <a:off x="3612355" y="3676498"/>
            <a:ext cx="0" cy="1438275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463A9CE-C002-3AD6-7F2E-5C835149E3B6}"/>
              </a:ext>
            </a:extLst>
          </p:cNvPr>
          <p:cNvSpPr txBox="1"/>
          <p:nvPr/>
        </p:nvSpPr>
        <p:spPr>
          <a:xfrm>
            <a:off x="1757362" y="5122862"/>
            <a:ext cx="3709986" cy="769441"/>
          </a:xfrm>
          <a:prstGeom prst="rect">
            <a:avLst/>
          </a:prstGeom>
          <a:solidFill>
            <a:srgbClr val="FFC557"/>
          </a:solidFill>
        </p:spPr>
        <p:txBody>
          <a:bodyPr wrap="square" rtlCol="0">
            <a:spAutoFit/>
          </a:bodyPr>
          <a:lstStyle/>
          <a:p>
            <a:r>
              <a:rPr lang="es-PY" sz="1400" dirty="0"/>
              <a:t>Luego al dar </a:t>
            </a:r>
            <a:r>
              <a:rPr lang="es-PY" sz="1400" dirty="0" err="1"/>
              <a:t>click</a:t>
            </a:r>
            <a:r>
              <a:rPr lang="es-PY" sz="1400" dirty="0"/>
              <a:t> en participar, en caso de que sea su primera participación lleva a la siguiente vista (</a:t>
            </a:r>
            <a:r>
              <a:rPr lang="es-PY" sz="1400" dirty="0" err="1"/>
              <a:t>Pag.</a:t>
            </a:r>
            <a:r>
              <a:rPr lang="es-PY" sz="1400" dirty="0"/>
              <a:t> Siguiente</a:t>
            </a:r>
            <a:r>
              <a:rPr lang="es-PY" sz="1600" dirty="0"/>
              <a:t>)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33611E0-35E8-6ED0-15CF-59CA11CC5082}"/>
              </a:ext>
            </a:extLst>
          </p:cNvPr>
          <p:cNvSpPr txBox="1"/>
          <p:nvPr/>
        </p:nvSpPr>
        <p:spPr>
          <a:xfrm>
            <a:off x="556777" y="243595"/>
            <a:ext cx="5329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sz="2000" b="1" dirty="0"/>
              <a:t>Vista</a:t>
            </a:r>
            <a:r>
              <a:rPr lang="es-PY" b="1" dirty="0"/>
              <a:t> principal</a:t>
            </a:r>
          </a:p>
        </p:txBody>
      </p:sp>
    </p:spTree>
    <p:extLst>
      <p:ext uri="{BB962C8B-B14F-4D97-AF65-F5344CB8AC3E}">
        <p14:creationId xmlns:p14="http://schemas.microsoft.com/office/powerpoint/2010/main" val="341693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780EFB0-8D69-E534-8C3D-B74FA319C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77" y="761757"/>
            <a:ext cx="6625073" cy="370195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BC1A74D-28FC-3D92-48E2-19D58D52A93A}"/>
              </a:ext>
            </a:extLst>
          </p:cNvPr>
          <p:cNvSpPr/>
          <p:nvPr/>
        </p:nvSpPr>
        <p:spPr>
          <a:xfrm>
            <a:off x="-1" y="0"/>
            <a:ext cx="390525" cy="68580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4E52418-B76E-698D-2D78-77B9C21FA049}"/>
              </a:ext>
            </a:extLst>
          </p:cNvPr>
          <p:cNvSpPr txBox="1"/>
          <p:nvPr/>
        </p:nvSpPr>
        <p:spPr>
          <a:xfrm>
            <a:off x="7916145" y="3877001"/>
            <a:ext cx="3824288" cy="338554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sz="1600" dirty="0"/>
              <a:t>Aquí debe completar con su Celular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00493FE-D034-DC01-CFEB-58C22127C71D}"/>
              </a:ext>
            </a:extLst>
          </p:cNvPr>
          <p:cNvSpPr txBox="1"/>
          <p:nvPr/>
        </p:nvSpPr>
        <p:spPr>
          <a:xfrm>
            <a:off x="556777" y="243595"/>
            <a:ext cx="532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b="1" dirty="0"/>
              <a:t>Vista en caso de que sea primera participación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0B2BFEA-38B5-A0E9-97D0-3F01487FC50A}"/>
              </a:ext>
            </a:extLst>
          </p:cNvPr>
          <p:cNvCxnSpPr>
            <a:cxnSpLocks/>
          </p:cNvCxnSpPr>
          <p:nvPr/>
        </p:nvCxnSpPr>
        <p:spPr>
          <a:xfrm flipV="1">
            <a:off x="5038725" y="2131254"/>
            <a:ext cx="2647950" cy="315538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83A38FE-5BF4-3CAE-0049-644F55F929FD}"/>
              </a:ext>
            </a:extLst>
          </p:cNvPr>
          <p:cNvCxnSpPr>
            <a:cxnSpLocks/>
          </p:cNvCxnSpPr>
          <p:nvPr/>
        </p:nvCxnSpPr>
        <p:spPr>
          <a:xfrm>
            <a:off x="5038725" y="2762403"/>
            <a:ext cx="2647950" cy="0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3E473A58-9F45-BD1F-FB67-9955F6B7CF59}"/>
              </a:ext>
            </a:extLst>
          </p:cNvPr>
          <p:cNvCxnSpPr>
            <a:cxnSpLocks/>
          </p:cNvCxnSpPr>
          <p:nvPr/>
        </p:nvCxnSpPr>
        <p:spPr>
          <a:xfrm>
            <a:off x="5038725" y="3227369"/>
            <a:ext cx="2647950" cy="184666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CB288657-8A34-B14E-7ED6-2A4A89C434D8}"/>
              </a:ext>
            </a:extLst>
          </p:cNvPr>
          <p:cNvCxnSpPr>
            <a:cxnSpLocks/>
          </p:cNvCxnSpPr>
          <p:nvPr/>
        </p:nvCxnSpPr>
        <p:spPr>
          <a:xfrm flipH="1">
            <a:off x="1514475" y="2841676"/>
            <a:ext cx="1076325" cy="2168474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5557A17-959C-0BFE-A277-2F3B1C58D9A2}"/>
              </a:ext>
            </a:extLst>
          </p:cNvPr>
          <p:cNvSpPr txBox="1"/>
          <p:nvPr/>
        </p:nvSpPr>
        <p:spPr>
          <a:xfrm>
            <a:off x="556777" y="5010150"/>
            <a:ext cx="1186297" cy="1169551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sz="1400" dirty="0"/>
              <a:t>Aquí debe completar con su Fecha de nacimiento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8A64AFB-33A2-CDF6-4CD0-9DC77ABCA7DD}"/>
              </a:ext>
            </a:extLst>
          </p:cNvPr>
          <p:cNvSpPr txBox="1"/>
          <p:nvPr/>
        </p:nvSpPr>
        <p:spPr>
          <a:xfrm>
            <a:off x="7916145" y="1868678"/>
            <a:ext cx="3824288" cy="307777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sz="1400" dirty="0"/>
              <a:t>Aquí debe completar nombre y apellido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CCABC88-475D-1DC9-34CF-33C8540696D1}"/>
              </a:ext>
            </a:extLst>
          </p:cNvPr>
          <p:cNvSpPr txBox="1"/>
          <p:nvPr/>
        </p:nvSpPr>
        <p:spPr>
          <a:xfrm>
            <a:off x="7916145" y="2577737"/>
            <a:ext cx="3824288" cy="369332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dirty="0"/>
              <a:t>Aquí debe completar su CI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5EE5B9B-F3B8-4CD4-4B67-ADF76998C307}"/>
              </a:ext>
            </a:extLst>
          </p:cNvPr>
          <p:cNvSpPr txBox="1"/>
          <p:nvPr/>
        </p:nvSpPr>
        <p:spPr>
          <a:xfrm>
            <a:off x="7916145" y="3227369"/>
            <a:ext cx="3824288" cy="369332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dirty="0"/>
              <a:t>Aquí debe completar su Email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C20E484-113E-6BA3-6B6A-F07A3BD7A579}"/>
              </a:ext>
            </a:extLst>
          </p:cNvPr>
          <p:cNvCxnSpPr>
            <a:cxnSpLocks/>
          </p:cNvCxnSpPr>
          <p:nvPr/>
        </p:nvCxnSpPr>
        <p:spPr>
          <a:xfrm>
            <a:off x="5038725" y="3557798"/>
            <a:ext cx="2743200" cy="503869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BE8A25AB-D10C-1CAD-BCF5-0C3F91FAC539}"/>
              </a:ext>
            </a:extLst>
          </p:cNvPr>
          <p:cNvCxnSpPr>
            <a:cxnSpLocks/>
          </p:cNvCxnSpPr>
          <p:nvPr/>
        </p:nvCxnSpPr>
        <p:spPr>
          <a:xfrm flipH="1">
            <a:off x="2590800" y="3596701"/>
            <a:ext cx="138548" cy="1413449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831469D-7C55-F1A3-49EF-94BE2DA7B7E0}"/>
              </a:ext>
            </a:extLst>
          </p:cNvPr>
          <p:cNvSpPr txBox="1"/>
          <p:nvPr/>
        </p:nvSpPr>
        <p:spPr>
          <a:xfrm>
            <a:off x="1997651" y="5010150"/>
            <a:ext cx="1186297" cy="738664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sz="1400" dirty="0"/>
              <a:t>Aquí completa su ciudad</a:t>
            </a: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8668C7DF-3A80-B863-C5E8-01F1094FFD8A}"/>
              </a:ext>
            </a:extLst>
          </p:cNvPr>
          <p:cNvCxnSpPr>
            <a:cxnSpLocks/>
          </p:cNvCxnSpPr>
          <p:nvPr/>
        </p:nvCxnSpPr>
        <p:spPr>
          <a:xfrm>
            <a:off x="3574910" y="3873483"/>
            <a:ext cx="1463815" cy="1305322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10C7D36-0F95-68F2-7522-73C7013DC334}"/>
              </a:ext>
            </a:extLst>
          </p:cNvPr>
          <p:cNvSpPr txBox="1"/>
          <p:nvPr/>
        </p:nvSpPr>
        <p:spPr>
          <a:xfrm>
            <a:off x="4566803" y="5208427"/>
            <a:ext cx="3453247" cy="738664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sz="1400" dirty="0"/>
              <a:t>Una vez que estén completos todos los campos, da </a:t>
            </a:r>
            <a:r>
              <a:rPr lang="es-PY" sz="1400" dirty="0" err="1"/>
              <a:t>click</a:t>
            </a:r>
            <a:r>
              <a:rPr lang="es-PY" sz="1400" dirty="0"/>
              <a:t> en confirmar y le lleva a la siguiente vista (</a:t>
            </a:r>
            <a:r>
              <a:rPr lang="es-PY" sz="1400" dirty="0" err="1"/>
              <a:t>Pag.</a:t>
            </a:r>
            <a:r>
              <a:rPr lang="es-PY" sz="1400" dirty="0"/>
              <a:t> Siguiente)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A710639-E277-D9BB-56B9-BB598A0165F2}"/>
              </a:ext>
            </a:extLst>
          </p:cNvPr>
          <p:cNvSpPr txBox="1"/>
          <p:nvPr/>
        </p:nvSpPr>
        <p:spPr>
          <a:xfrm>
            <a:off x="519111" y="6139577"/>
            <a:ext cx="53296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b="1" dirty="0">
                <a:solidFill>
                  <a:srgbClr val="FF0000"/>
                </a:solidFill>
              </a:rPr>
              <a:t>*</a:t>
            </a:r>
            <a:r>
              <a:rPr lang="es-PY" sz="1200" dirty="0">
                <a:solidFill>
                  <a:srgbClr val="FF0000"/>
                </a:solidFill>
              </a:rPr>
              <a:t> Agregar una validación que permita registrarse únicamente a personas nacidas antes de 2008, ya que deben ser mayores de edad </a:t>
            </a:r>
            <a:r>
              <a:rPr lang="es-PY" sz="1400" b="1" dirty="0">
                <a:solidFill>
                  <a:srgbClr val="FF0000"/>
                </a:solidFill>
              </a:rPr>
              <a:t>*</a:t>
            </a:r>
            <a:endParaRPr lang="es-PY" sz="1200" dirty="0">
              <a:solidFill>
                <a:srgbClr val="FF0000"/>
              </a:solidFill>
            </a:endParaRPr>
          </a:p>
          <a:p>
            <a:endParaRPr lang="es-PY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198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39DA2A-A9E4-CFD1-B7F9-3BDC7A758609}"/>
              </a:ext>
            </a:extLst>
          </p:cNvPr>
          <p:cNvSpPr/>
          <p:nvPr/>
        </p:nvSpPr>
        <p:spPr>
          <a:xfrm>
            <a:off x="-1" y="0"/>
            <a:ext cx="390525" cy="68580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AAA3F6-67C4-740B-69F2-09AAE5A00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4" y="1243489"/>
            <a:ext cx="6677022" cy="376357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E30E9FB-11AA-E90E-2865-3BCBCE48ED1B}"/>
              </a:ext>
            </a:extLst>
          </p:cNvPr>
          <p:cNvSpPr txBox="1"/>
          <p:nvPr/>
        </p:nvSpPr>
        <p:spPr>
          <a:xfrm>
            <a:off x="523874" y="263009"/>
            <a:ext cx="66770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Y" sz="1800" b="1" dirty="0">
                <a:highlight>
                  <a:srgbClr val="FFFF00"/>
                </a:highlight>
              </a:rPr>
              <a:t>Vista en caso de </a:t>
            </a:r>
            <a:r>
              <a:rPr lang="es-PY" b="1" dirty="0">
                <a:highlight>
                  <a:srgbClr val="FFFF00"/>
                </a:highlight>
              </a:rPr>
              <a:t>no gane ningún premio </a:t>
            </a:r>
          </a:p>
          <a:p>
            <a:r>
              <a:rPr lang="es-PY" b="1" dirty="0"/>
              <a:t>(si el participante ya esta registrado pasa directamente a esta vista)</a:t>
            </a:r>
            <a:endParaRPr lang="es-PY" sz="1800" b="1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8B1C8ED-FBFE-9634-BE9A-AA1836D775E2}"/>
              </a:ext>
            </a:extLst>
          </p:cNvPr>
          <p:cNvCxnSpPr/>
          <p:nvPr/>
        </p:nvCxnSpPr>
        <p:spPr>
          <a:xfrm>
            <a:off x="6915150" y="1466850"/>
            <a:ext cx="1181100" cy="0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F2063BD-02B9-B58D-807B-D453DE781F68}"/>
              </a:ext>
            </a:extLst>
          </p:cNvPr>
          <p:cNvSpPr txBox="1"/>
          <p:nvPr/>
        </p:nvSpPr>
        <p:spPr>
          <a:xfrm>
            <a:off x="8211420" y="1310760"/>
            <a:ext cx="2751855" cy="923330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dirty="0"/>
              <a:t>Esta X debe llevar a la pagina principal para cargar un nuevo </a:t>
            </a:r>
            <a:r>
              <a:rPr lang="es-PY" dirty="0" err="1"/>
              <a:t>codigo</a:t>
            </a:r>
            <a:endParaRPr lang="es-PY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D8A7B83-D23C-E8AC-9A61-A9474C02551F}"/>
              </a:ext>
            </a:extLst>
          </p:cNvPr>
          <p:cNvCxnSpPr>
            <a:cxnSpLocks/>
          </p:cNvCxnSpPr>
          <p:nvPr/>
        </p:nvCxnSpPr>
        <p:spPr>
          <a:xfrm>
            <a:off x="2266950" y="4157819"/>
            <a:ext cx="0" cy="1390650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C0B4C71-24C2-D241-6FF8-155E7691D32F}"/>
              </a:ext>
            </a:extLst>
          </p:cNvPr>
          <p:cNvSpPr txBox="1"/>
          <p:nvPr/>
        </p:nvSpPr>
        <p:spPr>
          <a:xfrm>
            <a:off x="1258170" y="5562148"/>
            <a:ext cx="2751855" cy="923330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dirty="0"/>
              <a:t>Debe llevar a la pagina principal para cargar un nuevo </a:t>
            </a:r>
            <a:r>
              <a:rPr lang="es-PY" dirty="0" err="1"/>
              <a:t>codigo</a:t>
            </a:r>
            <a:endParaRPr lang="es-PY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639FF70-64E3-7EC0-B192-2DF9CAD0E330}"/>
              </a:ext>
            </a:extLst>
          </p:cNvPr>
          <p:cNvCxnSpPr>
            <a:cxnSpLocks/>
          </p:cNvCxnSpPr>
          <p:nvPr/>
        </p:nvCxnSpPr>
        <p:spPr>
          <a:xfrm>
            <a:off x="5972175" y="4752975"/>
            <a:ext cx="2124075" cy="0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0E77A57-A6A9-71A2-7B8C-49C29CF98DC9}"/>
              </a:ext>
            </a:extLst>
          </p:cNvPr>
          <p:cNvSpPr txBox="1"/>
          <p:nvPr/>
        </p:nvSpPr>
        <p:spPr>
          <a:xfrm>
            <a:off x="8211420" y="4291310"/>
            <a:ext cx="3590054" cy="1477328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dirty="0"/>
              <a:t>El contador deberá ser acumulativo y reflejar la cantidad total de códigos y/o cupones generados exitosamente por cada cliente.</a:t>
            </a:r>
          </a:p>
        </p:txBody>
      </p:sp>
    </p:spTree>
    <p:extLst>
      <p:ext uri="{BB962C8B-B14F-4D97-AF65-F5344CB8AC3E}">
        <p14:creationId xmlns:p14="http://schemas.microsoft.com/office/powerpoint/2010/main" val="145132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ADFA39-8D9C-DA01-68D1-310F1C2C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353922"/>
            <a:ext cx="7890390" cy="441471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4374005-CBE0-398C-FEF1-709131DAF8BF}"/>
              </a:ext>
            </a:extLst>
          </p:cNvPr>
          <p:cNvSpPr txBox="1"/>
          <p:nvPr/>
        </p:nvSpPr>
        <p:spPr>
          <a:xfrm>
            <a:off x="523874" y="263009"/>
            <a:ext cx="72553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Y" sz="2000" b="1" dirty="0">
                <a:solidFill>
                  <a:srgbClr val="FF0000"/>
                </a:solidFill>
              </a:rPr>
              <a:t>Vista en caso de que ingrese un código que no </a:t>
            </a:r>
            <a:r>
              <a:rPr lang="es-PY" sz="2000" b="1" dirty="0" err="1">
                <a:solidFill>
                  <a:srgbClr val="FF0000"/>
                </a:solidFill>
              </a:rPr>
              <a:t>extiste</a:t>
            </a:r>
            <a:r>
              <a:rPr lang="es-PY" sz="2000" b="1" dirty="0">
                <a:solidFill>
                  <a:srgbClr val="FF0000"/>
                </a:solidFill>
              </a:rPr>
              <a:t> </a:t>
            </a:r>
          </a:p>
          <a:p>
            <a:r>
              <a:rPr lang="es-PY" b="1" dirty="0"/>
              <a:t>(si el participante ya esta registrado pasa directamente a esta vista)</a:t>
            </a:r>
            <a:endParaRPr lang="es-PY" sz="1800" b="1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7A0D856-AAC5-D60B-7DEE-ADE7BBF1D2B2}"/>
              </a:ext>
            </a:extLst>
          </p:cNvPr>
          <p:cNvCxnSpPr>
            <a:cxnSpLocks/>
          </p:cNvCxnSpPr>
          <p:nvPr/>
        </p:nvCxnSpPr>
        <p:spPr>
          <a:xfrm>
            <a:off x="6138861" y="5306705"/>
            <a:ext cx="2124075" cy="0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45D7018-D24F-0916-58B5-CC200A90D324}"/>
              </a:ext>
            </a:extLst>
          </p:cNvPr>
          <p:cNvSpPr txBox="1"/>
          <p:nvPr/>
        </p:nvSpPr>
        <p:spPr>
          <a:xfrm>
            <a:off x="8958972" y="3909174"/>
            <a:ext cx="2300431" cy="2308324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dirty="0"/>
              <a:t>El contador deberá ser acumulativo y reflejar la cantidad total de códigos y/o cupones generados exitosamente para cada cliente.</a:t>
            </a:r>
          </a:p>
        </p:txBody>
      </p:sp>
    </p:spTree>
    <p:extLst>
      <p:ext uri="{BB962C8B-B14F-4D97-AF65-F5344CB8AC3E}">
        <p14:creationId xmlns:p14="http://schemas.microsoft.com/office/powerpoint/2010/main" val="166947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2FC04C-B52E-7940-3905-09861F4D5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6" y="1380892"/>
            <a:ext cx="7698526" cy="427695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C8230CB-4BC6-4CBC-A17F-056C6CA68069}"/>
              </a:ext>
            </a:extLst>
          </p:cNvPr>
          <p:cNvSpPr txBox="1"/>
          <p:nvPr/>
        </p:nvSpPr>
        <p:spPr>
          <a:xfrm>
            <a:off x="285749" y="369153"/>
            <a:ext cx="66770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Y" sz="1600" b="1" dirty="0">
                <a:highlight>
                  <a:srgbClr val="FF0000"/>
                </a:highlight>
              </a:rPr>
              <a:t>Vista en caso de utilice un código ya cargado</a:t>
            </a:r>
            <a:br>
              <a:rPr lang="es-PY" sz="1600" b="1" dirty="0"/>
            </a:br>
            <a:r>
              <a:rPr lang="es-PY" sz="1600" b="1" dirty="0"/>
              <a:t>(si el participante ya esta registrado pasa directamente a esta vista)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94CEB53-F618-A62B-485E-901BF1155765}"/>
              </a:ext>
            </a:extLst>
          </p:cNvPr>
          <p:cNvCxnSpPr>
            <a:cxnSpLocks/>
          </p:cNvCxnSpPr>
          <p:nvPr/>
        </p:nvCxnSpPr>
        <p:spPr>
          <a:xfrm>
            <a:off x="5964977" y="5334000"/>
            <a:ext cx="2124075" cy="0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BDC5CFD7-2BFE-D473-CBD0-8BC579477447}"/>
              </a:ext>
            </a:extLst>
          </p:cNvPr>
          <p:cNvSpPr txBox="1"/>
          <p:nvPr/>
        </p:nvSpPr>
        <p:spPr>
          <a:xfrm>
            <a:off x="8211420" y="4291310"/>
            <a:ext cx="3590054" cy="1477328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dirty="0"/>
              <a:t>El contador deberá ser acumulativo y reflejar la cantidad total de códigos y/o cupones generados exitosamente para cada cliente.</a:t>
            </a:r>
          </a:p>
        </p:txBody>
      </p:sp>
    </p:spTree>
    <p:extLst>
      <p:ext uri="{BB962C8B-B14F-4D97-AF65-F5344CB8AC3E}">
        <p14:creationId xmlns:p14="http://schemas.microsoft.com/office/powerpoint/2010/main" val="3871864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FFA31C-A116-B9A4-C29D-B4E45A870AB5}"/>
              </a:ext>
            </a:extLst>
          </p:cNvPr>
          <p:cNvSpPr/>
          <p:nvPr/>
        </p:nvSpPr>
        <p:spPr>
          <a:xfrm>
            <a:off x="-1" y="0"/>
            <a:ext cx="390525" cy="68580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E45353-7A5E-0710-2D25-1F56021F1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418319"/>
            <a:ext cx="6496329" cy="363485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3D97BE2-153D-70BB-132D-0EA2B639701E}"/>
              </a:ext>
            </a:extLst>
          </p:cNvPr>
          <p:cNvSpPr txBox="1"/>
          <p:nvPr/>
        </p:nvSpPr>
        <p:spPr>
          <a:xfrm>
            <a:off x="542925" y="26300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Y" sz="1800" b="1" dirty="0">
                <a:solidFill>
                  <a:srgbClr val="00B050"/>
                </a:solidFill>
              </a:rPr>
              <a:t>Vista en caso de que </a:t>
            </a:r>
            <a:r>
              <a:rPr lang="es-PY" b="1" dirty="0">
                <a:solidFill>
                  <a:srgbClr val="00B050"/>
                </a:solidFill>
              </a:rPr>
              <a:t>gane un premio</a:t>
            </a:r>
          </a:p>
          <a:p>
            <a:r>
              <a:rPr lang="es-PY" b="1" dirty="0"/>
              <a:t>(si el participante ya esta registrado pasa directamente a esta vista)</a:t>
            </a:r>
            <a:endParaRPr lang="es-PY" sz="1800" b="1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2585A50-6FCD-FD75-E5C3-D3D59E8BF277}"/>
              </a:ext>
            </a:extLst>
          </p:cNvPr>
          <p:cNvCxnSpPr/>
          <p:nvPr/>
        </p:nvCxnSpPr>
        <p:spPr>
          <a:xfrm>
            <a:off x="6905625" y="1695450"/>
            <a:ext cx="1181100" cy="0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37FC133-E3CC-7ADA-8CD9-2B95FECF4CCA}"/>
              </a:ext>
            </a:extLst>
          </p:cNvPr>
          <p:cNvSpPr txBox="1"/>
          <p:nvPr/>
        </p:nvSpPr>
        <p:spPr>
          <a:xfrm>
            <a:off x="8211420" y="1310760"/>
            <a:ext cx="2751855" cy="923330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dirty="0"/>
              <a:t>Esta X debe llevar a la pagina principal para cargar un nuevo </a:t>
            </a:r>
            <a:r>
              <a:rPr lang="es-PY" dirty="0" err="1"/>
              <a:t>codigo</a:t>
            </a:r>
            <a:endParaRPr lang="es-PY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28E4E67-0CCF-BBF8-E587-C459C750E0B8}"/>
              </a:ext>
            </a:extLst>
          </p:cNvPr>
          <p:cNvCxnSpPr>
            <a:cxnSpLocks/>
          </p:cNvCxnSpPr>
          <p:nvPr/>
        </p:nvCxnSpPr>
        <p:spPr>
          <a:xfrm>
            <a:off x="2266950" y="4157819"/>
            <a:ext cx="0" cy="1390650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E896421-64A8-06C1-F8D6-045F93799DD9}"/>
              </a:ext>
            </a:extLst>
          </p:cNvPr>
          <p:cNvSpPr txBox="1"/>
          <p:nvPr/>
        </p:nvSpPr>
        <p:spPr>
          <a:xfrm>
            <a:off x="1258170" y="5562148"/>
            <a:ext cx="2751855" cy="923330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dirty="0"/>
              <a:t>Debe llevar a la pagina principal para cargar un nuevo </a:t>
            </a:r>
            <a:r>
              <a:rPr lang="es-PY" dirty="0" err="1"/>
              <a:t>codigo</a:t>
            </a:r>
            <a:endParaRPr lang="es-PY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E90A9A3-8A83-1B41-F3CC-677B1ED54770}"/>
              </a:ext>
            </a:extLst>
          </p:cNvPr>
          <p:cNvCxnSpPr>
            <a:cxnSpLocks/>
          </p:cNvCxnSpPr>
          <p:nvPr/>
        </p:nvCxnSpPr>
        <p:spPr>
          <a:xfrm>
            <a:off x="6315075" y="3162300"/>
            <a:ext cx="1581150" cy="0"/>
          </a:xfrm>
          <a:prstGeom prst="straightConnector1">
            <a:avLst/>
          </a:prstGeom>
          <a:ln w="57150">
            <a:solidFill>
              <a:srgbClr val="FF44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556C0E5-0BD3-7449-EC5A-1E907CDFD807}"/>
              </a:ext>
            </a:extLst>
          </p:cNvPr>
          <p:cNvSpPr txBox="1"/>
          <p:nvPr/>
        </p:nvSpPr>
        <p:spPr>
          <a:xfrm>
            <a:off x="8086725" y="2967335"/>
            <a:ext cx="2751855" cy="1169551"/>
          </a:xfrm>
          <a:prstGeom prst="rect">
            <a:avLst/>
          </a:prstGeom>
          <a:solidFill>
            <a:srgbClr val="FFC55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Y" sz="1400" dirty="0"/>
              <a:t>Aquí en caso de que salga ganador, el premio independientemente de cual sea debe salir con una animación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5C6BA6D-5BE8-EA5A-DF53-C1A945B23959}"/>
              </a:ext>
            </a:extLst>
          </p:cNvPr>
          <p:cNvSpPr txBox="1"/>
          <p:nvPr/>
        </p:nvSpPr>
        <p:spPr>
          <a:xfrm>
            <a:off x="7563284" y="5070216"/>
            <a:ext cx="45243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Y" sz="1600" dirty="0"/>
              <a:t>Calendario de premios: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AB24538-3F9B-8716-0791-1477A7C5DCBA}"/>
              </a:ext>
            </a:extLst>
          </p:cNvPr>
          <p:cNvSpPr txBox="1"/>
          <p:nvPr/>
        </p:nvSpPr>
        <p:spPr>
          <a:xfrm>
            <a:off x="7581464" y="5398262"/>
            <a:ext cx="37623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Y" sz="1600" dirty="0"/>
              <a:t>https://metissapy.sharepoint.com/:x:/s/Promociones/IQAjlj6PsxPbQJFoFKxt53hMAeHy4HU_W3wxhgCJ-nCtI98?e=wVX5OS</a:t>
            </a:r>
          </a:p>
        </p:txBody>
      </p:sp>
    </p:spTree>
    <p:extLst>
      <p:ext uri="{BB962C8B-B14F-4D97-AF65-F5344CB8AC3E}">
        <p14:creationId xmlns:p14="http://schemas.microsoft.com/office/powerpoint/2010/main" val="3799863099"/>
      </p:ext>
    </p:extLst>
  </p:cSld>
  <p:clrMapOvr>
    <a:masterClrMapping/>
  </p:clrMapOvr>
</p:sld>
</file>

<file path=ppt/theme/theme1.xml><?xml version="1.0" encoding="utf-8"?>
<a:theme xmlns:a="http://schemas.openxmlformats.org/drawingml/2006/main" name="Días laborable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10ef14f-010f-4c05-884b-4fb1bff6f632">
      <Terms xmlns="http://schemas.microsoft.com/office/infopath/2007/PartnerControls"/>
    </lcf76f155ced4ddcb4097134ff3c332f>
    <TaxCatchAll xmlns="49cc9a52-eb9d-4061-99e9-81896ae1b29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7F24FB257F2E64FB0A786B3E6BFCEC7" ma:contentTypeVersion="13" ma:contentTypeDescription="Crear nuevo documento." ma:contentTypeScope="" ma:versionID="ac49e5fc93005d88920ac0835559e3c8">
  <xsd:schema xmlns:xsd="http://www.w3.org/2001/XMLSchema" xmlns:xs="http://www.w3.org/2001/XMLSchema" xmlns:p="http://schemas.microsoft.com/office/2006/metadata/properties" xmlns:ns2="610ef14f-010f-4c05-884b-4fb1bff6f632" xmlns:ns3="49cc9a52-eb9d-4061-99e9-81896ae1b29d" targetNamespace="http://schemas.microsoft.com/office/2006/metadata/properties" ma:root="true" ma:fieldsID="464822ba5c1ba9f11d2e7ea7fc9a3e3f" ns2:_="" ns3:_="">
    <xsd:import namespace="610ef14f-010f-4c05-884b-4fb1bff6f632"/>
    <xsd:import namespace="49cc9a52-eb9d-4061-99e9-81896ae1b2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0ef14f-010f-4c05-884b-4fb1bff6f6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d73e345e-3b49-4bbe-9908-a3e99f83d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c9a52-eb9d-4061-99e9-81896ae1b29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e1671cb-cccc-4d7b-a712-3667fdc1538d}" ma:internalName="TaxCatchAll" ma:showField="CatchAllData" ma:web="49cc9a52-eb9d-4061-99e9-81896ae1b2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7FC347-B516-4312-8792-E831298772D2}">
  <ds:schemaRefs>
    <ds:schemaRef ds:uri="610ef14f-010f-4c05-884b-4fb1bff6f632"/>
    <ds:schemaRef ds:uri="http://schemas.microsoft.com/office/infopath/2007/PartnerControls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49cc9a52-eb9d-4061-99e9-81896ae1b29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48B4E4E-25C8-4FBD-9C36-3AB17EABE7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728728-B7E9-470F-ABAB-4A3A4D13513D}"/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24116</TotalTime>
  <Words>415</Words>
  <Application>Microsoft Office PowerPoint</Application>
  <PresentationFormat>Panorámica</PresentationFormat>
  <Paragraphs>34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Futura Bk BT</vt:lpstr>
      <vt:lpstr>JasmineUPC</vt:lpstr>
      <vt:lpstr>Raleway</vt:lpstr>
      <vt:lpstr>Días laborables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Dana Gosling</dc:creator>
  <cp:lastModifiedBy>Jordi Flores</cp:lastModifiedBy>
  <cp:revision>276</cp:revision>
  <dcterms:created xsi:type="dcterms:W3CDTF">2023-07-06T18:59:30Z</dcterms:created>
  <dcterms:modified xsi:type="dcterms:W3CDTF">2026-08-07T13:30:34Z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0x01010087F24FB257F2E64FB0A786B3E6BFCEC7</vt:lpwstr>
  </property>
  <property fmtid="{D5CDD505-2E9C-101B-9397-08002B2CF9AE}" pid="3" name="Order">
    <vt:r8>2581200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ediaServiceImageTags">
    <vt:lpwstr/>
  </property>
</Properties>
</file>